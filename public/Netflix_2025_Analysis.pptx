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21F1F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221F1F"/>
                </a:solidFill>
                <a:latin typeface="Arial"/>
              </a:rPr>
              <a:t>Quarterly Revenue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E5F5F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5F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869-BC4D-9E5E-C19535E9A313}"/>
              </c:ext>
            </c:extLst>
          </c:dPt>
          <c:dPt>
            <c:idx val="1"/>
            <c:invertIfNegative val="0"/>
            <c:bubble3D val="0"/>
            <c:spPr>
              <a:solidFill>
                <a:srgbClr val="E5F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869-BC4D-9E5E-C19535E9A313}"/>
              </c:ext>
            </c:extLst>
          </c:dPt>
          <c:dPt>
            <c:idx val="2"/>
            <c:invertIfNegative val="0"/>
            <c:bubble3D val="0"/>
            <c:spPr>
              <a:solidFill>
                <a:srgbClr val="E5F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869-BC4D-9E5E-C19535E9A313}"/>
              </c:ext>
            </c:extLst>
          </c:dPt>
          <c:dPt>
            <c:idx val="3"/>
            <c:invertIfNegative val="0"/>
            <c:bubble3D val="0"/>
            <c:spPr>
              <a:solidFill>
                <a:srgbClr val="E5F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869-BC4D-9E5E-C19535E9A313}"/>
              </c:ext>
            </c:extLst>
          </c:dPt>
          <c:dPt>
            <c:idx val="4"/>
            <c:invertIfNegative val="0"/>
            <c:bubble3D val="0"/>
            <c:spPr>
              <a:solidFill>
                <a:srgbClr val="E50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869-BC4D-9E5E-C19535E9A313}"/>
              </c:ext>
            </c:extLst>
          </c:dPt>
          <c:dPt>
            <c:idx val="5"/>
            <c:invertIfNegative val="0"/>
            <c:bubble3D val="0"/>
            <c:spPr>
              <a:solidFill>
                <a:srgbClr val="E50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869-BC4D-9E5E-C19535E9A313}"/>
              </c:ext>
            </c:extLst>
          </c:dPt>
          <c:dPt>
            <c:idx val="6"/>
            <c:invertIfNegative val="0"/>
            <c:bubble3D val="0"/>
            <c:spPr>
              <a:solidFill>
                <a:srgbClr val="E50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869-BC4D-9E5E-C19535E9A313}"/>
              </c:ext>
            </c:extLst>
          </c:dPt>
          <c:dPt>
            <c:idx val="7"/>
            <c:invertIfNegative val="0"/>
            <c:bubble3D val="0"/>
            <c:spPr>
              <a:solidFill>
                <a:srgbClr val="E509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869-BC4D-9E5E-C19535E9A31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Q1'24</c:v>
                </c:pt>
                <c:pt idx="1">
                  <c:v>Q2'24</c:v>
                </c:pt>
                <c:pt idx="2">
                  <c:v>Q3'24</c:v>
                </c:pt>
                <c:pt idx="3">
                  <c:v>Q4'24</c:v>
                </c:pt>
                <c:pt idx="4">
                  <c:v>Q1'25</c:v>
                </c:pt>
                <c:pt idx="5">
                  <c:v>Q2'25</c:v>
                </c:pt>
                <c:pt idx="6">
                  <c:v>Q3'25</c:v>
                </c:pt>
                <c:pt idx="7">
                  <c:v>Q4'25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9370</c:v>
                </c:pt>
                <c:pt idx="1">
                  <c:v>9559</c:v>
                </c:pt>
                <c:pt idx="2">
                  <c:v>9825</c:v>
                </c:pt>
                <c:pt idx="3">
                  <c:v>10247</c:v>
                </c:pt>
                <c:pt idx="4">
                  <c:v>10543</c:v>
                </c:pt>
                <c:pt idx="5">
                  <c:v>11079</c:v>
                </c:pt>
                <c:pt idx="6">
                  <c:v>11510</c:v>
                </c:pt>
                <c:pt idx="7">
                  <c:v>12051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869-BC4D-9E5E-C19535E9A3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9F9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21F1F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221F1F"/>
                </a:solidFill>
                <a:latin typeface="Arial"/>
              </a:rPr>
              <a:t>2025 Quarterly Revenue by Region ($M)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UCAN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4617</c:v>
                </c:pt>
                <c:pt idx="1">
                  <c:v>4929</c:v>
                </c:pt>
                <c:pt idx="2">
                  <c:v>5072</c:v>
                </c:pt>
                <c:pt idx="3">
                  <c:v>5339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26-294B-9C77-465CBCAF2A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EMEA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3405</c:v>
                </c:pt>
                <c:pt idx="1">
                  <c:v>3538</c:v>
                </c:pt>
                <c:pt idx="2">
                  <c:v>3699</c:v>
                </c:pt>
                <c:pt idx="3">
                  <c:v>3873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26-294B-9C77-465CBCAF2A1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LATAM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1262</c:v>
                </c:pt>
                <c:pt idx="1">
                  <c:v>1307</c:v>
                </c:pt>
                <c:pt idx="2">
                  <c:v>1371</c:v>
                </c:pt>
                <c:pt idx="3">
                  <c:v>1418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426-294B-9C77-465CBCAF2A1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APAC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1259</c:v>
                </c:pt>
                <c:pt idx="1">
                  <c:v>1305</c:v>
                </c:pt>
                <c:pt idx="2">
                  <c:v>1369</c:v>
                </c:pt>
                <c:pt idx="3">
                  <c:v>1421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426-294B-9C77-465CBCAF2A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9F9F9"/>
    </a:solidFill>
    <a:ln>
      <a:noFill/>
    </a:ln>
    <a:effectLst/>
  </c:sp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Reported Growth %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UCAN</c:v>
                </c:pt>
                <c:pt idx="1">
                  <c:v>EMEA</c:v>
                </c:pt>
                <c:pt idx="2">
                  <c:v>LATAM</c:v>
                </c:pt>
                <c:pt idx="3">
                  <c:v>APAC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17.2</c:v>
                </c:pt>
                <c:pt idx="2">
                  <c:v>10.7</c:v>
                </c:pt>
                <c:pt idx="3">
                  <c:v>21.3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8D-F342-B684-C6FE43897A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CC Growth %</c:v>
                </c:pt>
              </c:strCache>
            </c:strRef>
          </c:tx>
          <c:spPr>
            <a:solidFill>
              <a:srgbClr val="4B556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UCAN</c:v>
                </c:pt>
                <c:pt idx="1">
                  <c:v>EMEA</c:v>
                </c:pt>
                <c:pt idx="2">
                  <c:v>LATAM</c:v>
                </c:pt>
                <c:pt idx="3">
                  <c:v>APAC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</c:v>
                </c:pt>
                <c:pt idx="1">
                  <c:v>16</c:v>
                </c:pt>
                <c:pt idx="2">
                  <c:v>23</c:v>
                </c:pt>
                <c:pt idx="3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8D-F342-B684-C6FE43897A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chemeClr val="bg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FFFFFF"/>
                </a:solidFill>
                <a:latin typeface="Arial"/>
              </a:rPr>
              <a:t>Quarterly Operating Margin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Margin %</c:v>
                </c:pt>
              </c:strCache>
            </c:strRef>
          </c:tx>
          <c:spPr>
            <a:ln w="38100" cap="flat">
              <a:solidFill>
                <a:srgbClr val="E5091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50914"/>
              </a:solidFill>
              <a:ln w="9525" cap="flat">
                <a:solidFill>
                  <a:srgbClr val="E5091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-2.0370370370370372E-2"/>
                  <c:y val="-3.63756613756613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878-7747-92AA-0258E5FDC453}"/>
                </c:ext>
              </c:extLst>
            </c:dLbl>
            <c:dLbl>
              <c:idx val="1"/>
              <c:layout>
                <c:manualLayout>
                  <c:x val="-2.2222222222222223E-2"/>
                  <c:y val="3.30687830687830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878-7747-92AA-0258E5FDC453}"/>
                </c:ext>
              </c:extLst>
            </c:dLbl>
            <c:dLbl>
              <c:idx val="2"/>
              <c:layout>
                <c:manualLayout>
                  <c:x val="-2.2222222222222223E-2"/>
                  <c:y val="-2.9761904761904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878-7747-92AA-0258E5FDC453}"/>
                </c:ext>
              </c:extLst>
            </c:dLbl>
            <c:dLbl>
              <c:idx val="3"/>
              <c:layout>
                <c:manualLayout>
                  <c:x val="-3.3333333333333333E-2"/>
                  <c:y val="3.96825396825397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878-7747-92AA-0258E5FDC453}"/>
                </c:ext>
              </c:extLst>
            </c:dLbl>
            <c:dLbl>
              <c:idx val="4"/>
              <c:layout>
                <c:manualLayout>
                  <c:x val="-2.5925925925925925E-2"/>
                  <c:y val="-2.9761904761904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878-7747-92AA-0258E5FDC45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Q1'24</c:v>
                </c:pt>
                <c:pt idx="1">
                  <c:v>Q2'24</c:v>
                </c:pt>
                <c:pt idx="2">
                  <c:v>Q3'24</c:v>
                </c:pt>
                <c:pt idx="3">
                  <c:v>Q4'24</c:v>
                </c:pt>
                <c:pt idx="4">
                  <c:v>Q1'25</c:v>
                </c:pt>
                <c:pt idx="5">
                  <c:v>Q2'25</c:v>
                </c:pt>
                <c:pt idx="6">
                  <c:v>Q3'25</c:v>
                </c:pt>
                <c:pt idx="7">
                  <c:v>Q4'25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28.1</c:v>
                </c:pt>
                <c:pt idx="1">
                  <c:v>27.2</c:v>
                </c:pt>
                <c:pt idx="2">
                  <c:v>29.6</c:v>
                </c:pt>
                <c:pt idx="3">
                  <c:v>22.2</c:v>
                </c:pt>
                <c:pt idx="4">
                  <c:v>31.7</c:v>
                </c:pt>
                <c:pt idx="5">
                  <c:v>34.1</c:v>
                </c:pt>
                <c:pt idx="6">
                  <c:v>28.2</c:v>
                </c:pt>
                <c:pt idx="7">
                  <c:v>24.5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878-7747-92AA-0258E5FDC4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21F1F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221F1F"/>
                </a:solidFill>
                <a:latin typeface="Arial"/>
              </a:rPr>
              <a:t>Revenue vs. Content Investment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39001</c:v>
                </c:pt>
                <c:pt idx="1">
                  <c:v>45183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EE-DC48-AA52-63EF6070BA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Content Additions ($M)</c:v>
                </c:pt>
              </c:strCache>
            </c:strRef>
          </c:tx>
          <c:spPr>
            <a:solidFill>
              <a:srgbClr val="33415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16224</c:v>
                </c:pt>
                <c:pt idx="1">
                  <c:v>17097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EE-DC48-AA52-63EF6070BAE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Content Amortization ($M)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15302</c:v>
                </c:pt>
                <c:pt idx="1">
                  <c:v>16422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2EE-DC48-AA52-63EF6070BA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9F9F9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FFFFFF"/>
                </a:solidFill>
                <a:latin typeface="Arial"/>
              </a:rPr>
              <a:t>Quarterly Free Cash Flow ($M)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Free Cash Flow ($M)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-2.9629629629629631E-2"/>
                  <c:y val="-3.28947368421052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A2D-1E4A-8CEB-0528314B9ACB}"/>
                </c:ext>
              </c:extLst>
            </c:dLbl>
            <c:dLbl>
              <c:idx val="1"/>
              <c:layout>
                <c:manualLayout>
                  <c:x val="-3.1481481481481478E-2"/>
                  <c:y val="3.28947368421052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A2D-1E4A-8CEB-0528314B9ACB}"/>
                </c:ext>
              </c:extLst>
            </c:dLbl>
            <c:dLbl>
              <c:idx val="2"/>
              <c:layout>
                <c:manualLayout>
                  <c:x val="-3.3333333333333402E-2"/>
                  <c:y val="-2.92397660818713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A2D-1E4A-8CEB-0528314B9ACB}"/>
                </c:ext>
              </c:extLst>
            </c:dLbl>
            <c:dLbl>
              <c:idx val="3"/>
              <c:layout>
                <c:manualLayout>
                  <c:x val="-3.7037037037037104E-2"/>
                  <c:y val="2.92397660818713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A2D-1E4A-8CEB-0528314B9ACB}"/>
                </c:ext>
              </c:extLst>
            </c:dLbl>
            <c:dLbl>
              <c:idx val="4"/>
              <c:layout>
                <c:manualLayout>
                  <c:x val="-3.1481481481481416E-2"/>
                  <c:y val="-3.65497076023391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A2D-1E4A-8CEB-0528314B9ACB}"/>
                </c:ext>
              </c:extLst>
            </c:dLbl>
            <c:dLbl>
              <c:idx val="5"/>
              <c:layout>
                <c:manualLayout>
                  <c:x val="-2.9629629629629631E-2"/>
                  <c:y val="3.65497076023391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A2D-1E4A-8CEB-0528314B9ACB}"/>
                </c:ext>
              </c:extLst>
            </c:dLbl>
            <c:dLbl>
              <c:idx val="6"/>
              <c:layout>
                <c:manualLayout>
                  <c:x val="-3.888888888888889E-2"/>
                  <c:y val="-3.65497076023391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A2D-1E4A-8CEB-0528314B9ACB}"/>
                </c:ext>
              </c:extLst>
            </c:dLbl>
            <c:dLbl>
              <c:idx val="7"/>
              <c:layout>
                <c:manualLayout>
                  <c:x val="-2.9629629629629631E-2"/>
                  <c:y val="2.5584795321637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A2D-1E4A-8CEB-0528314B9AC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Q1'24</c:v>
                </c:pt>
                <c:pt idx="1">
                  <c:v>Q2'24</c:v>
                </c:pt>
                <c:pt idx="2">
                  <c:v>Q3'24</c:v>
                </c:pt>
                <c:pt idx="3">
                  <c:v>Q4'24</c:v>
                </c:pt>
                <c:pt idx="4">
                  <c:v>Q1'25</c:v>
                </c:pt>
                <c:pt idx="5">
                  <c:v>Q2'25</c:v>
                </c:pt>
                <c:pt idx="6">
                  <c:v>Q3'25</c:v>
                </c:pt>
                <c:pt idx="7">
                  <c:v>Q4'25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2137</c:v>
                </c:pt>
                <c:pt idx="1">
                  <c:v>1213</c:v>
                </c:pt>
                <c:pt idx="2">
                  <c:v>2194</c:v>
                </c:pt>
                <c:pt idx="3">
                  <c:v>1378</c:v>
                </c:pt>
                <c:pt idx="4">
                  <c:v>2661</c:v>
                </c:pt>
                <c:pt idx="5">
                  <c:v>2267</c:v>
                </c:pt>
                <c:pt idx="6">
                  <c:v>2660</c:v>
                </c:pt>
                <c:pt idx="7">
                  <c:v>1872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A2D-1E4A-8CEB-0528314B9A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0.72314</cdr:x>
      <cdr:y>0.21125</cdr:y>
    </cdr:from>
    <cdr:to>
      <cdr:x>0.79329</cdr:x>
      <cdr:y>0.23977</cdr:y>
    </cdr:to>
    <cdr:cxnSp macro="">
      <cdr:nvCxnSpPr>
        <cdr:cNvPr id="2" name="Straight Arrow Connector 1">
          <a:extLst xmlns:a="http://schemas.openxmlformats.org/drawingml/2006/main">
            <a:ext uri="{FF2B5EF4-FFF2-40B4-BE49-F238E27FC236}">
              <a16:creationId xmlns:a16="http://schemas.microsoft.com/office/drawing/2014/main" id="{EDB1ED12-8536-D4F7-F848-18969145A0A1}"/>
            </a:ext>
          </a:extLst>
        </cdr:cNvPr>
        <cdr:cNvCxnSpPr/>
      </cdr:nvCxnSpPr>
      <cdr:spPr>
        <a:xfrm xmlns:a="http://schemas.openxmlformats.org/drawingml/2006/main" flipV="1">
          <a:off x="4959275" y="888582"/>
          <a:ext cx="481106" cy="119947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chemeClr val="accent1">
              <a:lumMod val="50000"/>
            </a:schemeClr>
          </a:solidFill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2549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kern="0" spc="800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NETFLIX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11480" y="2148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Financial Performance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2926080"/>
            <a:ext cx="4572000" cy="3657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 Case Study  </a:t>
            </a:r>
            <a:r>
              <a:rPr lang="en-US" sz="13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May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Analyst: Lipsa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0" y="3657600"/>
            <a:ext cx="2194560" cy="109728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49440" y="37033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$45.2B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949440" y="42793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Revenue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418320" y="3657600"/>
            <a:ext cx="2194560" cy="109728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418320" y="37033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418320" y="42793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0" y="5029200"/>
            <a:ext cx="2194560" cy="109728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9440" y="50749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49440" y="56509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Op. Margin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418320" y="5029200"/>
            <a:ext cx="2194560" cy="109728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18320" y="50749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$9.46B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418320" y="56509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 &amp;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303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r>
              <a:rPr lang="en-US" sz="14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Netflix's 2025 financial performance to identify key revenue drivers, regional growth opportunities, monetization trends, and profitability insights, supporting strategic decision-making.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57784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234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691640"/>
            <a:ext cx="36576" cy="347472"/>
          </a:xfrm>
          <a:prstGeom prst="rect">
            <a:avLst/>
          </a:prstGeom>
          <a:solidFill>
            <a:srgbClr val="E509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6916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Revenue Performance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2221992"/>
            <a:ext cx="36576" cy="347472"/>
          </a:xfrm>
          <a:prstGeom prst="rect">
            <a:avLst/>
          </a:prstGeom>
          <a:solidFill>
            <a:srgbClr val="E5091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22199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Regional Growth Analysis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2752344"/>
            <a:ext cx="36576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75234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Subscriber &amp; ARPU Trends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3282696"/>
            <a:ext cx="36576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28269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Monetization &amp; Pricing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3813048"/>
            <a:ext cx="36576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81304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Profitability Analysis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4343400"/>
            <a:ext cx="36576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43434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Content Investment Efficiency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4873752"/>
            <a:ext cx="36576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87375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Cash Flow &amp; Financial Position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5404104"/>
            <a:ext cx="36576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540410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Key Strategic Insights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63093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Netflix Q4-2025 Earnings Release  |  All figures $USD thousands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2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5176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984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2025 Revenue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$45.2B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+15.8% YoY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5176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8872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2984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46120" y="15727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46120" y="2148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+280bps vs 2024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265176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2984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26480" y="15727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$11.0B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26480" y="2148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+26.0% YoY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06840" y="1188720"/>
            <a:ext cx="265176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06840" y="1188720"/>
            <a:ext cx="26517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06840" y="12984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006840" y="15727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$9.46B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006840" y="2148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+36.7% YoY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880360"/>
            <a:ext cx="5577840" cy="86868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880360"/>
            <a:ext cx="347472" cy="8686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2880360"/>
            <a:ext cx="292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" y="29260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Revenue Growth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" y="320040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every quarter in 2025, from $10.5B in Q1 to $12.1B in Q4 — demonstrating no deceleration throughout the year.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904488"/>
            <a:ext cx="5577840" cy="86868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904488"/>
            <a:ext cx="347472" cy="8686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" y="3904488"/>
            <a:ext cx="292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" y="395020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UCAN Dominates, APAC Accelerates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" y="4224528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UCAN contributed 44% of FY revenue. APAC grew 21.3% YoY (22% constant currency) — the fastest of all four regions.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928616"/>
            <a:ext cx="5577840" cy="86868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4928616"/>
            <a:ext cx="347472" cy="8686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" y="4928616"/>
            <a:ext cx="292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4672" y="4974336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Expansion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" y="5248656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 improved from 26.7% in 2024 to 29.5% in 2025, driven by revenue scaling ahead of cost growth.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09360" y="2880360"/>
            <a:ext cx="5577840" cy="86868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09360" y="2880360"/>
            <a:ext cx="347472" cy="8686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36792" y="2880360"/>
            <a:ext cx="292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48272" y="29260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Cash Generation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48272" y="320040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 surged to $9.46B, up 36.7% YoY. Netflix simultaneously repurchased $9.1B in shares.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09360" y="3904488"/>
            <a:ext cx="5577840" cy="86868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309360" y="3904488"/>
            <a:ext cx="347472" cy="8686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36792" y="3904488"/>
            <a:ext cx="2926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48272" y="395020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Investment Generating Returns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48272" y="4224528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additions grew only 5.4% while revenue grew 15.8%, indicating rising content ROI and operational leverage.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221F1F"/>
          </a:solidFill>
          <a:ln w="12700">
            <a:solidFill>
              <a:srgbClr val="221F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Accelerated Every Quarter in 2025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12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143000"/>
          <a:ext cx="749808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046720" y="1143000"/>
            <a:ext cx="3749040" cy="43891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1143000"/>
            <a:ext cx="374904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3816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92440" y="1691640"/>
            <a:ext cx="45720" cy="5486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0" y="170992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 Peak: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0" y="189280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$12.1B: strongest quarter, driven by holiday content and year-end pricing.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092440" y="2450592"/>
            <a:ext cx="45720" cy="5486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0" y="246888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Acceleration: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29600" y="265176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rate: Q1 +12.5% → Q2 +15.9% → Q3 +17.2% → Q4 +17.6% YoY.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092440" y="3209544"/>
            <a:ext cx="45720" cy="5486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0" y="322783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2025 Total: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229600" y="341071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$45.2B vs $39.0B in 2024: an absolute increase of $6.2B.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092440" y="3968496"/>
            <a:ext cx="45720" cy="5486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0" y="3986784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Revenue Miss: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229600" y="4169664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quarters delivered sequential revenue growth without a single decline.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092440" y="4727448"/>
            <a:ext cx="45720" cy="5486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0" y="4745736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229600" y="4928616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 quarterly growth rate indicates pricing power and ad-tier </a:t>
            </a:r>
            <a:r>
              <a:rPr lang="en-US" sz="9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</a:t>
            </a: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just volume.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Revenue accelerated throughout 2025  |  Analysis: Growth driven by pricing + ad-tier  |  Impact: Confirms Netflix's dual-revenue model is working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Became Netflix’s Fastest Growing Revenue Region in 2025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12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844500832"/>
              </p:ext>
            </p:extLst>
          </p:nvPr>
        </p:nvGraphicFramePr>
        <p:xfrm>
          <a:off x="365760" y="1143000"/>
          <a:ext cx="68580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143000"/>
            <a:ext cx="4389120" cy="1143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06640" y="1143000"/>
            <a:ext cx="109728" cy="11430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UCAN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1508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$19.96B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89520" y="183794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44.2%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9418320" y="15087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YoY: +15.0%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418320" y="17647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CC: +15.0%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406640" y="2423160"/>
            <a:ext cx="4389120" cy="1143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06640" y="2423160"/>
            <a:ext cx="109728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8952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58952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$14.51B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89520" y="311810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32.1%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9418320" y="27889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YoY: +17.2%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418320" y="30449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CC: +16.0%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406640" y="3703320"/>
            <a:ext cx="4389120" cy="1143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406640" y="3703320"/>
            <a:ext cx="10972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8952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LATAM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589520" y="4069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$5.36B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589520" y="439826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11.9%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9418320" y="40690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YoY: +10.7%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418320" y="43251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CC: +23.0%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406640" y="4983480"/>
            <a:ext cx="4389120" cy="1143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406640" y="4983480"/>
            <a:ext cx="10972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589520" y="5029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589520" y="5349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$5.35B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589520" y="567842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Share: 11.8%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9418320" y="53492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YoY: +21.3%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9418320" y="56052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CC: +22.0%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UCAN = pricing power  |  EMEA = FX headwind; strong underlying growth  |  LATAM = FX masks true 23% CC growth  |  APAC = fastest growing, largest opportunity</a:t>
            </a:r>
            <a:endParaRPr lang="en-US" sz="14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DB1ED12-8536-D4F7-F848-18969145A0A1}"/>
              </a:ext>
            </a:extLst>
          </p:cNvPr>
          <p:cNvCxnSpPr/>
          <p:nvPr/>
        </p:nvCxnSpPr>
        <p:spPr>
          <a:xfrm flipV="1">
            <a:off x="2302137" y="2240280"/>
            <a:ext cx="441063" cy="9144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4C79733-182A-2857-ED51-BF987D88C2DA}"/>
              </a:ext>
            </a:extLst>
          </p:cNvPr>
          <p:cNvCxnSpPr>
            <a:cxnSpLocks/>
          </p:cNvCxnSpPr>
          <p:nvPr/>
        </p:nvCxnSpPr>
        <p:spPr>
          <a:xfrm flipV="1">
            <a:off x="3794760" y="2151529"/>
            <a:ext cx="486784" cy="80683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2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Growth &amp; Monetization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Growth: Reported vs. Constant Currency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352890797"/>
              </p:ext>
            </p:extLst>
          </p:nvPr>
        </p:nvGraphicFramePr>
        <p:xfrm>
          <a:off x="365760" y="1600200"/>
          <a:ext cx="68580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7498080" y="11887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Analysis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98080" y="1645920"/>
            <a:ext cx="429768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0" y="1691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UCAN — Pricing Power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589520" y="20116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pricing-led. Multiple price increases in 2023-24 now reflected in full-year ARPU uplift.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498080" y="2834640"/>
            <a:ext cx="429768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589520" y="2880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LATAM — FX Distortion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89520" y="3200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+10.7% vs. CC +23%. FX-adjusted reality is much stronger — member growth is significant.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498080" y="4023360"/>
            <a:ext cx="429768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589520" y="4069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APAC — Volume + Expansion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89520" y="4389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growing region both reported &amp; CC. Mobile-tier pricing driving member volume at lower ARPU.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498080" y="5212080"/>
            <a:ext cx="429768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589520" y="5257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EMEA — Balanced Growth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589520" y="5577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~17% growth with slight FX variance. Stable, mature market with room for ARPU lift.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221F1F"/>
          </a:solidFill>
          <a:ln w="12700">
            <a:solidFill>
              <a:srgbClr val="221F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Monetization Strategy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48640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53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353312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Password-Sharing Monetization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847088"/>
            <a:ext cx="5212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Netflix's paid-sharing initiative (rolled out 2023) continues to convert former free-riders into paying members. UCAN's 15% revenue growth despite market saturation confirms monetization success.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548640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188720"/>
            <a:ext cx="54864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353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31152" y="1353312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Ad-Supported Tier Expansion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1847088"/>
            <a:ext cx="5212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ads plan, now Netflix's fastest-growing tier by membership, generates dual revenue: subscription fees + advertising CPM. This is a structural shift toward higher ARPU per active household.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548640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566160"/>
            <a:ext cx="54864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3730752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Increases (UCAN &amp; EMEA)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224528"/>
            <a:ext cx="5212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plan in UCAN increased to $22.99/month. EMEA pricing also lifted. With no material subscriber churn, demand is price-inelastic — indicating premium brand strength.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3566160"/>
            <a:ext cx="548640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3566160"/>
            <a:ext cx="54864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31152" y="3730752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Investment ROI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4224528"/>
            <a:ext cx="5212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additions grew only 5.4% ($17.1B) vs revenue growing 15.8%. This leverage suggests existing content library and live events (sports, NFL, boxing) drive efficient subscriber retention.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4490" y="5632704"/>
            <a:ext cx="11603019" cy="8912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is executing a multi-lever </a:t>
            </a:r>
            <a:r>
              <a:rPr lang="en-US" sz="1400" b="1" dirty="0" err="1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</a:t>
            </a: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strategy: password sharing → advertising → price increases; all simultaneously, which explains accelerating revenue per user.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2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" y="22860"/>
            <a:ext cx="12161520" cy="10058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Expanded Margins Despite Increased Content Spending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12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542104166"/>
              </p:ext>
            </p:extLst>
          </p:nvPr>
        </p:nvGraphicFramePr>
        <p:xfrm>
          <a:off x="365760" y="1188720"/>
          <a:ext cx="68580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188720"/>
            <a:ext cx="429768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589520" y="12618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2024 Op. Margin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589520" y="153619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26.7%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05840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498080" y="2395728"/>
            <a:ext cx="429768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589520" y="2468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2025 Op. Margin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589520" y="274320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058400" y="27614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+280bps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498080" y="3602736"/>
            <a:ext cx="429768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589520" y="36758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2025 Net Income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589520" y="395020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$11.0B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0058400" y="396849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+26.0%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498080" y="4736592"/>
            <a:ext cx="429768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589520" y="48828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2025 Peak Margin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589520" y="5157216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34.1%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0058400" y="517550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quarter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0480" y="5952744"/>
            <a:ext cx="12161520" cy="905256"/>
          </a:xfrm>
          <a:prstGeom prst="rect">
            <a:avLst/>
          </a:prstGeom>
          <a:solidFill>
            <a:srgbClr val="0F0F0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554126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Q4 margin dip every year?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65760" y="5733826"/>
            <a:ext cx="11430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consistently shows lower operating margins (Q4 2024: 22.2%, Q4 2025: 24.5%) due to elevated content costs, higher marketing spend, and seasonal content amortization spikes. This is predictable and not a sign of structural weakness; Q4 revenue is always the strongest quarter.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Investment Efficiency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of 12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188720"/>
          <a:ext cx="59436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188720"/>
            <a:ext cx="256032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0" y="1188720"/>
            <a:ext cx="256032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75120" y="12984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ROI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675120" y="1691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2.64x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675120" y="21945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/ Content Additions (2025)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$45.2B / $17.1B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9326880" y="1188720"/>
            <a:ext cx="256032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326880" y="1188720"/>
            <a:ext cx="25603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18320" y="12984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vs Content Growth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418320" y="1691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+15.8% vs +5.4%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418320" y="21945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growing 3x faster than content spend — operational leverage in action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583680" y="3383280"/>
            <a:ext cx="256032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83680" y="3383280"/>
            <a:ext cx="25603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75120" y="34930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Asset Base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675120" y="38862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$32.8B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675120" y="43891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content assets on balance sheet — deep IP moat providing ongoing viewer value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9326880" y="3383280"/>
            <a:ext cx="256032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326880" y="3383280"/>
            <a:ext cx="25603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18320" y="34930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Amortization vs Additions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418320" y="38862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96.1%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418320" y="43891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Amortization/Additions ratio — close to 1:1, indicating disciplined cash content spending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5599355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is extracting more revenue per dollar of content invested; content ROI is rising. Live events (NFL, boxing) are a cost-efficient audience engagement lever.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2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&amp; Financial Position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of 12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974090248"/>
              </p:ext>
            </p:extLst>
          </p:nvPr>
        </p:nvGraphicFramePr>
        <p:xfrm>
          <a:off x="365760" y="1188720"/>
          <a:ext cx="68580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846320"/>
          <a:ext cx="6858000" cy="192024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 2024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 2025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DDDDD"/>
                          </a:solidFill>
                        </a:rPr>
                        <a:t>Operating Cash Flow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DDDDD"/>
                          </a:solidFill>
                        </a:rPr>
                        <a:t>$7.36B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DDDDD"/>
                          </a:solidFill>
                        </a:rPr>
                        <a:t>$10.15B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</a:rPr>
                        <a:t>+37.9%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DDDDD"/>
                          </a:solidFill>
                        </a:rPr>
                        <a:t>Free Cash Flow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DDDDD"/>
                          </a:solidFill>
                        </a:rPr>
                        <a:t>$6.92B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DDDDD"/>
                          </a:solidFill>
                        </a:rPr>
                        <a:t>$9.46B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</a:rPr>
                        <a:t>+36.7%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DDDDD"/>
                          </a:solidFill>
                        </a:rPr>
                        <a:t>Cash Balance (YE)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DDDDD"/>
                          </a:solidFill>
                        </a:rPr>
                        <a:t>$7.80B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DDDDD"/>
                          </a:solidFill>
                        </a:rPr>
                        <a:t>$9.03B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</a:rPr>
                        <a:t>+15.8%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DDDDD"/>
                          </a:solidFill>
                        </a:rPr>
                        <a:t>Long-term Debt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DDDDD"/>
                          </a:solidFill>
                        </a:rPr>
                        <a:t>$13.80B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DDDDD"/>
                          </a:solidFill>
                        </a:rPr>
                        <a:t>$13.46B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CA5A5"/>
                          </a:solidFill>
                        </a:rPr>
                        <a:t>−2.5%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DDDDD"/>
                          </a:solidFill>
                        </a:rPr>
                        <a:t>Stock Repurchases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DDDDD"/>
                          </a:solidFill>
                        </a:rPr>
                        <a:t>$6.26B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DDDDDD"/>
                          </a:solidFill>
                        </a:rPr>
                        <a:t>$9.13B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DE80"/>
                          </a:solidFill>
                        </a:rPr>
                        <a:t>+45.8%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498080" y="1188720"/>
            <a:ext cx="429768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589520" y="12618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Position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589520" y="15361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$9.0B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589520" y="196596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 cash + equivalents</a:t>
            </a:r>
            <a:endParaRPr lang="en-US" sz="800" dirty="0"/>
          </a:p>
        </p:txBody>
      </p:sp>
      <p:sp>
        <p:nvSpPr>
          <p:cNvPr id="6" name="Shape 7"/>
          <p:cNvSpPr/>
          <p:nvPr/>
        </p:nvSpPr>
        <p:spPr>
          <a:xfrm>
            <a:off x="7498080" y="2468880"/>
            <a:ext cx="429768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589520" y="25420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Debt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589520" y="28163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$4.4B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589520" y="32461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debt minus cash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7498080" y="3749040"/>
            <a:ext cx="429768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589520" y="3822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Value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589520" y="409651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$26.6B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7589520" y="45262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Stockholders equity Q4 2025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7498080" y="5029200"/>
            <a:ext cx="429768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7589520" y="51023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Buybacks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589520" y="53766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$9.1B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7589520" y="580644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repurchased in 2025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2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 &amp; Strategic Recommendations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of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657600" cy="22860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3657600" cy="34747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252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STRENGTH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Multi-lever Revenue Engine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993392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is simultaneously </a:t>
            </a:r>
            <a:r>
              <a:rPr lang="en-US" sz="14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monetising</a:t>
            </a: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price increases, ad-supported tiers, and password-sharing conversion, three separate growth vectors firing at once.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51960" y="1188720"/>
            <a:ext cx="3657600" cy="22860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188720"/>
            <a:ext cx="36576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2252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43400" y="16002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Underpenetrated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43400" y="1993392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revenue ($5.35B) matches LATAM but with significantly higher growth momentum.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83880" y="1188720"/>
            <a:ext cx="3657600" cy="22860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3880" y="1188720"/>
            <a:ext cx="3657600" cy="34747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12252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STRENGTH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75320" y="160934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Expansion Without Overinvestment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75320" y="1993392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 hit 29.5% FY 2025 vs 26.7% in 2024. Content spend grew only 5.4% vs 15.8% revenue; Netflix is achieving scale leverage.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3749040"/>
            <a:ext cx="3657600" cy="22860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749040"/>
            <a:ext cx="3657600" cy="347472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7856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WATCHPOINT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41605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Seasonal Cost Pressure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1480" y="4553712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operating margin was 24.5% (lowest of 2025). Holiday content + marketing spend compresses margins predictably.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251960" y="3749040"/>
            <a:ext cx="3657600" cy="22860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51960" y="3749040"/>
            <a:ext cx="36576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0" y="37856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43400" y="41605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Revenue Upside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43400" y="4553712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Ads-supported tier is Netflix's fastest-growing plan. As advertising infrastructure matures (programmatic, live sports inventory), ad revenue could represent 15-20% of total revenue by 2027.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83880" y="3749040"/>
            <a:ext cx="3657600" cy="22860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83880" y="3749040"/>
            <a:ext cx="3657600" cy="347472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75320" y="37856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WATCHPOINT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75320" y="41605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Exposure in LATAM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75320" y="4553712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LATAM reported only +10.7% growth but constant currency was +23%. Heavy FX headwind is masking genuine business momentum and creating forecast volatility.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221F1F"/>
          </a:solidFill>
          <a:ln w="12700">
            <a:solidFill>
              <a:srgbClr val="221F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Data Sources &amp; 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54864" cy="5486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749040" y="118872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1234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Netflix, Inc. Q4-2025 Earnings Release (unaudited)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earnings supplement filed with SEC January 2026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47088"/>
            <a:ext cx="54864" cy="5486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4708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 Used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49040" y="1847088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189280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Statement, Balance Sheet, Cash Flow Statement,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Information, FX Neutral Operating Margin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505456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05456"/>
            <a:ext cx="54864" cy="5486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0545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49040" y="2505456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255117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in USD thousands unless stated otherwise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163824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163824"/>
            <a:ext cx="54864" cy="5486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63824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Currency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49040" y="3163824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320954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recalculated holding FX rates constant from prior year. Hedging gains/losses excluded from both periods.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822192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822192"/>
            <a:ext cx="54864" cy="5486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82219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49040" y="3822192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0" y="386791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Non-GAAP: Operating Cash Flow minus Capital Expenditures (Purchases of PP&amp;E)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448056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480560"/>
            <a:ext cx="54864" cy="5486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480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ROI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49040" y="448056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4526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calculation: Total Revenue ÷ Content Additions. Not an official Netflix metric.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5138928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5138928"/>
            <a:ext cx="54864" cy="5486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513892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49040" y="5138928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0" y="518464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Income ÷ Revenue per period (as reported, GAAP)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" y="5797296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5797296"/>
            <a:ext cx="54864" cy="54864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579729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Note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749040" y="5797296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0" y="584301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ARPU and paid membership data not included in this financial supplement. Analysis based on revenue and growth patterns.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1535</Words>
  <Application>Microsoft Macintosh PowerPoint</Application>
  <PresentationFormat>Widescreen</PresentationFormat>
  <Paragraphs>255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2025 Financial Performance Analysis</dc:title>
  <dc:subject>PptxGenJS Presentation</dc:subject>
  <dc:creator>Lipsa — Business Analyst</dc:creator>
  <cp:lastModifiedBy>Microsoft Office User</cp:lastModifiedBy>
  <cp:revision>3</cp:revision>
  <dcterms:created xsi:type="dcterms:W3CDTF">2026-05-14T15:37:35Z</dcterms:created>
  <dcterms:modified xsi:type="dcterms:W3CDTF">2026-05-14T16:50:30Z</dcterms:modified>
</cp:coreProperties>
</file>