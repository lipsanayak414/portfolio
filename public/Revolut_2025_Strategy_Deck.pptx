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retail customers</c:v>
                </c:pt>
              </c:strCache>
            </c:strRef>
          </c:tx>
          <c:spPr>
            <a:solidFill>
              <a:srgbClr val="7A82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1111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2024</c:v>
                  </c:pt>
                  <c:pt idx="1">
                    <c:v>2025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Primary-bank customers</c:v>
                </c:pt>
              </c:strCache>
            </c:strRef>
          </c:tx>
          <c:spPr>
            <a:solidFill>
              <a:srgbClr val="0066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1111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2024</c:v>
                  </c:pt>
                  <c:pt idx="1">
                    <c:v>2025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100</c:v>
                </c:pt>
                <c:pt idx="1">
                  <c:v>145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1111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F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"/>
          <c:min val="80"/>
        </c:scaling>
        <c:delete val="0"/>
        <c:axPos val="l"/>
        <c:majorGridlines>
          <c:spPr>
            <a:ln w="6350" cap="flat">
              <a:solidFill>
                <a:srgbClr val="E3E5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F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4F5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7A82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Card payments</c:v>
                  </c:pt>
                  <c:pt idx="1">
                    <c:v>Interest income</c:v>
                  </c:pt>
                  <c:pt idx="2">
                    <c:v>Subscriptions</c:v>
                  </c:pt>
                  <c:pt idx="3">
                    <c:v>Wealth</c:v>
                  </c:pt>
                  <c:pt idx="4">
                    <c:v>FX</c:v>
                  </c:pt>
                  <c:pt idx="5">
                    <c:v>Rewards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693.9</c:v>
                </c:pt>
                <c:pt idx="1">
                  <c:v>790.2</c:v>
                </c:pt>
                <c:pt idx="2">
                  <c:v>423</c:v>
                </c:pt>
                <c:pt idx="3">
                  <c:v>506.3</c:v>
                </c:pt>
                <c:pt idx="4">
                  <c:v>422.2</c:v>
                </c:pt>
                <c:pt idx="5">
                  <c:v>23.8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0066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Card payments</c:v>
                  </c:pt>
                  <c:pt idx="1">
                    <c:v>Interest income</c:v>
                  </c:pt>
                  <c:pt idx="2">
                    <c:v>Subscriptions</c:v>
                  </c:pt>
                  <c:pt idx="3">
                    <c:v>Wealth</c:v>
                  </c:pt>
                  <c:pt idx="4">
                    <c:v>FX</c:v>
                  </c:pt>
                  <c:pt idx="5">
                    <c:v>Rewards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1003.9</c:v>
                </c:pt>
                <c:pt idx="1">
                  <c:v>974.2</c:v>
                </c:pt>
                <c:pt idx="2">
                  <c:v>708.5</c:v>
                </c:pt>
                <c:pt idx="3">
                  <c:v>663.5</c:v>
                </c:pt>
                <c:pt idx="4">
                  <c:v>605.8</c:v>
                </c:pt>
                <c:pt idx="5">
                  <c:v>192.8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F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5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F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4F5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YoY change</c:v>
                </c:pt>
              </c:strCache>
            </c:strRef>
          </c:tx>
          <c:spPr>
            <a:solidFill>
              <a:srgbClr val="0066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1111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Paid-plan adoption</c:v>
                  </c:pt>
                  <c:pt idx="1">
                    <c:v>Transactions / customer</c:v>
                  </c:pt>
                  <c:pt idx="2">
                    <c:v>Investing / customer</c:v>
                  </c:pt>
                  <c:pt idx="3">
                    <c:v>Balance / customer</c:v>
                  </c:pt>
                  <c:pt idx="4">
                    <c:v>Savings / customer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24</c:v>
                </c:pt>
                <c:pt idx="2">
                  <c:v>24</c:v>
                </c:pt>
                <c:pt idx="3">
                  <c:v>11</c:v>
                </c:pt>
                <c:pt idx="4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1111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11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5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F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Retail</c:v>
                </c:pt>
              </c:strCache>
            </c:strRef>
          </c:tx>
          <c:spPr>
            <a:solidFill>
              <a:srgbClr val="7A82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1111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Customers</c:v>
                  </c:pt>
                  <c:pt idx="1">
                    <c:v>Revenue</c:v>
                  </c:pt>
                  <c:pt idx="2">
                    <c:v>Transaction volume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42</c:v>
                </c:pt>
                <c:pt idx="2">
                  <c:v>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Business</c:v>
                </c:pt>
              </c:strCache>
            </c:strRef>
          </c:tx>
          <c:spPr>
            <a:solidFill>
              <a:srgbClr val="0066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1111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Customers</c:v>
                  </c:pt>
                  <c:pt idx="1">
                    <c:v>Revenue</c:v>
                  </c:pt>
                  <c:pt idx="2">
                    <c:v>Transaction volume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33</c:v>
                </c:pt>
                <c:pt idx="1">
                  <c:v>53</c:v>
                </c:pt>
                <c:pt idx="2">
                  <c:v>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1111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F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5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F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4F5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066FF"/>
            </a:solidFill>
            <a:ln w="38100" cap="flat">
              <a:solidFill>
                <a:srgbClr val="0066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11111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066FF"/>
              </a:solidFill>
              <a:ln w="9525" cap="flat">
                <a:solidFill>
                  <a:srgbClr val="0066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2024</c:v>
                  </c:pt>
                  <c:pt idx="1">
                    <c:v>2025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146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Avg. headcount</c:v>
                </c:pt>
              </c:strCache>
            </c:strRef>
          </c:tx>
          <c:spPr>
            <a:solidFill>
              <a:srgbClr val="7A8290"/>
            </a:solidFill>
            <a:ln w="38100" cap="flat">
              <a:solidFill>
                <a:srgbClr val="7A82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11111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7A8290"/>
              </a:solidFill>
              <a:ln w="9525" cap="flat">
                <a:solidFill>
                  <a:srgbClr val="7A82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2024</c:v>
                  </c:pt>
                  <c:pt idx="1">
                    <c:v>2025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100</c:v>
                </c:pt>
                <c:pt idx="1">
                  <c:v>110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11111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F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"/>
          <c:min val="80"/>
        </c:scaling>
        <c:delete val="0"/>
        <c:axPos val="l"/>
        <c:majorGridlines>
          <c:spPr>
            <a:ln w="6350" cap="flat">
              <a:solidFill>
                <a:srgbClr val="E3E5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F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4F5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YoY headcount growth</c:v>
                </c:pt>
              </c:strCache>
            </c:strRef>
          </c:tx>
          <c:spPr>
            <a:solidFill>
              <a:srgbClr val="0066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1111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Risk &amp; Compliance</c:v>
                  </c:pt>
                  <c:pt idx="1">
                    <c:v>Global Expansion</c:v>
                  </c:pt>
                  <c:pt idx="2">
                    <c:v>Sales</c:v>
                  </c:pt>
                  <c:pt idx="3">
                    <c:v>Product</c:v>
                  </c:pt>
                  <c:pt idx="4">
                    <c:v>Group avg. (YE)</c:v>
                  </c:pt>
                  <c:pt idx="5">
                    <c:v>Group avg. (monthly)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35</c:v>
                </c:pt>
                <c:pt idx="2">
                  <c:v>27</c:v>
                </c:pt>
                <c:pt idx="3">
                  <c:v>26</c:v>
                </c:pt>
                <c:pt idx="4">
                  <c:v>20</c:v>
                </c:pt>
                <c:pt idx="5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1111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1111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5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F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 deposits</c:v>
                </c:pt>
              </c:strCache>
            </c:strRef>
          </c:tx>
          <c:spPr>
            <a:solidFill>
              <a:srgbClr val="7A82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1111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2024</c:v>
                  </c:pt>
                  <c:pt idx="1">
                    <c:v>2025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22.3</c:v>
                </c:pt>
                <c:pt idx="1">
                  <c:v>36.1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loans</c:v>
                </c:pt>
              </c:strCache>
            </c:strRef>
          </c:tx>
          <c:spPr>
            <a:solidFill>
              <a:srgbClr val="0066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1111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2024</c:v>
                  </c:pt>
                  <c:pt idx="1">
                    <c:v>2025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1.02</c:v>
                </c:pt>
                <c:pt idx="1">
                  <c:v>2.24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1111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F5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5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F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4F5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8D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ANALYSIS · FY2025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Revolut at $75bn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8DB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challenger fintech to global banking platform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17220" y="4114800"/>
            <a:ext cx="2560320" cy="1463040"/>
          </a:xfrm>
          <a:prstGeom prst="rect">
            <a:avLst/>
          </a:prstGeom>
          <a:solidFill>
            <a:srgbClr val="1F2024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" y="4114800"/>
            <a:ext cx="2560320" cy="36576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5820" y="4389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£4.5bn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45820" y="5074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5820" y="5303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D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+46% YoY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06140" y="4114800"/>
            <a:ext cx="2560320" cy="1463040"/>
          </a:xfrm>
          <a:prstGeom prst="rect">
            <a:avLst/>
          </a:prstGeom>
          <a:solidFill>
            <a:srgbClr val="1F2024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06140" y="4114800"/>
            <a:ext cx="2560320" cy="36576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4740" y="4389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£1.7bn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634740" y="5074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before tax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34740" y="5303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D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+57% YoY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95060" y="4114800"/>
            <a:ext cx="2560320" cy="1463040"/>
          </a:xfrm>
          <a:prstGeom prst="rect">
            <a:avLst/>
          </a:prstGeom>
          <a:solidFill>
            <a:srgbClr val="1F2024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5060" y="4114800"/>
            <a:ext cx="2560320" cy="36576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3660" y="4389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68.3M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23660" y="5074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customers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23660" y="5303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D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 YoY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83980" y="4114800"/>
            <a:ext cx="2560320" cy="1463040"/>
          </a:xfrm>
          <a:prstGeom prst="rect">
            <a:avLst/>
          </a:prstGeom>
          <a:solidFill>
            <a:srgbClr val="1F2024"/>
          </a:solidFill>
          <a:ln w="6350">
            <a:solidFill>
              <a:srgbClr val="2A2D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83980" y="4114800"/>
            <a:ext cx="2560320" cy="36576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12580" y="4389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$75bn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212580" y="5074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valuation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212580" y="5303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D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+67% vs 2024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Revolut Group Holdings Ltd, Annual Report 2025  ·  Portfolio strategy review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broadened across customers, balances and profitability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2900" y="2011680"/>
            <a:ext cx="21488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3E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" y="2011680"/>
            <a:ext cx="2148840" cy="365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22402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£4.5bn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71500" y="32186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1500" y="3657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+46%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74620" y="2011680"/>
            <a:ext cx="21488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3E5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74620" y="2011680"/>
            <a:ext cx="2148840" cy="365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03220" y="22402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£1.7bn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903220" y="32186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before tax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03220" y="3657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+57%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06340" y="2011680"/>
            <a:ext cx="21488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3E5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06340" y="2011680"/>
            <a:ext cx="2148840" cy="365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4940" y="22402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£50.2bn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234940" y="32186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balances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34940" y="3657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+66%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38060" y="2011680"/>
            <a:ext cx="21488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3E5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38060" y="2011680"/>
            <a:ext cx="2148840" cy="365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66660" y="22402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68.3M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66660" y="32186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customers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566660" y="3657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669780" y="2011680"/>
            <a:ext cx="21488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3E5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69780" y="2011680"/>
            <a:ext cx="2148840" cy="365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98380" y="22402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£1.26tn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898380" y="32186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transaction volume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898380" y="3657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+65%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3891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growth, balance growth, transaction growth and profit growth all compounded off the same base in 2025.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5806440"/>
            <a:ext cx="1124712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58978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is no longer the question. Monetization depth is.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 Group Holdings Ltd · Annual Report 2025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Primary-bank adoption is outpacing customer growth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base vs primary-bank customers (indexed, 2024 = 100)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2103120"/>
          <a:ext cx="60350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858000" y="1783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new bank accounts in last 3 years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858000" y="20116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a16z proprietary survey, six European markets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858000" y="23774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503920" y="23774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966960" y="23774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bank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58000" y="2761488"/>
            <a:ext cx="4754880" cy="0"/>
          </a:xfrm>
          <a:prstGeom prst="line">
            <a:avLst/>
          </a:prstGeom>
          <a:noFill/>
          <a:ln w="9525">
            <a:solidFill>
              <a:srgbClr val="E3E5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0" y="28072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503920" y="28072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966960" y="28072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0" y="31912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503920" y="31912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966960" y="31912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58000" y="357530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Poland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503920" y="35753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966960" y="357530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858000" y="39593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Italy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503920" y="39593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966960" y="39593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858000" y="43434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503920" y="43434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966960" y="43434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858000" y="47274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+ IE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503920" y="47274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9966960" y="47274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5806440"/>
            <a:ext cx="1124712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58978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1 in 3 new bank accounts in Spain, France and Italy is now a Revolut account (a16z survey).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 Group Holdings Ltd · Annual Report 2025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 income now drives 76% of revenue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 YoY (£m)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2103120"/>
          <a:ext cx="6400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040880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 by stream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040880" y="2148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programs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418320" y="21122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6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+709%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040880" y="24048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small base — early-stage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040880" y="2715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418320" y="26791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6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+68%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040880" y="2971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· likely highest LTV stream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040880" y="32826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payments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418320" y="3246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6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+45%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040880" y="35387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Interchange + ATM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040880" y="38496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exchange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418320" y="38130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6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+44%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040880" y="41056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Volume-led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040880" y="44165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418320" y="437997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6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+31%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040880" y="46725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+ investments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040880" y="4983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income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418320" y="494690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6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+23%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040880" y="52395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yields + lending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5806440"/>
            <a:ext cx="1124712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58978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 and rewards outpaced the headline. RevPoints deferred revenue grew 2.6× (£100m → £263m) — a forward indicator for 2026.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 Group Holdings Ltd · Annual Report 2025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Customers transact more, save more, invest more, subscribe more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Per-customer behaviour, YoY change (%)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2103120"/>
          <a:ext cx="6400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040880" y="2103120"/>
            <a:ext cx="484632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86600" y="21488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£20.4bn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823960" y="2148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savings balances · &gt;2× YoY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040880" y="2880360"/>
            <a:ext cx="484632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86600" y="29260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4.8M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823960" y="2926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 Pay users (one-click checkout)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040880" y="3657600"/>
            <a:ext cx="484632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86600" y="3703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17M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823960" y="37033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RevPoints members across 36 countries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040880" y="4434840"/>
            <a:ext cx="484632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86600" y="44805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&gt;2×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823960" y="44805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account customers YoY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040880" y="5212080"/>
            <a:ext cx="484632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5806440"/>
            <a:ext cx="1124712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58978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Per-customer engagement deepened across every behaviour tracked — an early indicator of LTV expansion within the existing cohort.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 Group Holdings Ltd · Annual Report 2025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SEGMENT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Revolut Business reached $1bn annualised revenue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vs Business growth (% YoY)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2103120"/>
          <a:ext cx="6400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3492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revenue growth approximated from group revenue net of Business segment.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7040880" y="1920240"/>
            <a:ext cx="484632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86600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£708M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823960" y="19659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revenue · +53% YoY · 16% of group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040880" y="2697480"/>
            <a:ext cx="484632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86600" y="27432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767k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823960" y="2743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customers · +33% YoY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040880" y="3474720"/>
            <a:ext cx="484632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86600" y="35204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£277B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823960" y="35204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transaction volume · +56% YoY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040880" y="4251960"/>
            <a:ext cx="484632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86600" y="42976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+228%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823960" y="42976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acceptance volume — 3× for 2nd year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040880" y="5029200"/>
            <a:ext cx="484632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5806440"/>
            <a:ext cx="1124712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58978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is increasingly driven by larger business relationships and payment infrastructure. Expansion-market growth &gt;140% (US, Singapore, Australia).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 Group Holdings Ltd · Annual Report 2025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grew roughly 4× faster than headcount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growth, 2024 = 100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2103120"/>
          <a:ext cx="64008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040880" y="1874520"/>
            <a:ext cx="484632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86600" y="192024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£414k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823960" y="19202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/ avg. employee  ·  +33%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040880" y="2514600"/>
            <a:ext cx="484632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86600" y="25603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33%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823960" y="256032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ratio  ·  −5pp YoY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040880" y="3154680"/>
            <a:ext cx="484632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86600" y="320040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75%+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823960" y="32004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queries resolved by Gen-AI Assistant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040880" y="3794760"/>
            <a:ext cx="484632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86600" y="38404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+12pp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823960" y="38404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Customer-support NPS uplift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040880" y="4434840"/>
            <a:ext cx="484632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86600" y="448056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~10×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823960" y="44805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cases reviewed daily via AI agents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040880" y="5074920"/>
            <a:ext cx="484632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5806440"/>
            <a:ext cx="1124712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58978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between revenue and headcount growth widened in 2025 — likely a contributing factor to the PBT margin expansion to 38%.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 Group Holdings Ltd · Annual Report 2025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COMPLIANCE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and compliance investment is scaling ahead of growth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growth by function (YoY %)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2103120"/>
          <a:ext cx="64008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040880" y="1920240"/>
            <a:ext cx="484632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86600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10B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823960" y="19659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analysed in 2025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040880" y="2697480"/>
            <a:ext cx="484632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86600" y="27432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4.1%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823960" y="2743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 coverage — flat YoY as lending book doubled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040880" y="3474720"/>
            <a:ext cx="484632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86600" y="35204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78M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823960" y="35204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Fraud-education messages delivered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040880" y="4251960"/>
            <a:ext cx="484632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86600" y="42976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1/3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823960" y="42976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workforce in Financial Crime Prevention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040880" y="5029200"/>
            <a:ext cx="484632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53949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note: in a sector where regulatory failure has cost competitors years of growth, this scale of investment looks more like a moat than a tax.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5806440"/>
            <a:ext cx="1124712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58978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and compliance headcount grew 42% YoY against a group average of ~20% at year-end.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 Group Holdings Ltd · Annual Report 2025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£50bn in customer balances, £2.2bn in loans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deposits vs gross loans (£bn)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2103120"/>
          <a:ext cx="64008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040880" y="1828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Loan-to-deposit ratio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040880" y="21031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006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6.2%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7040880" y="2971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4.6% in 2024  ·  substantial headroom relative to traditional retail banks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040880" y="3429000"/>
            <a:ext cx="484632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86600" y="34747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+120%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823960" y="34747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portfolio YoY · ECL coverage held flat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040880" y="4114800"/>
            <a:ext cx="484632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86600" y="41605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£4.9bn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823960" y="41605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CET1 capital · +88% YoY — dry powder for lending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040880" y="4800600"/>
            <a:ext cx="484632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86600" y="48463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823960" y="48463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with lending products live today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040880" y="5486400"/>
            <a:ext cx="484632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5806440"/>
            <a:ext cx="1124712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58978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UK full-licence operationalisation (March 2026) and US OCC application appear to be the most material near-term catalysts for lending scale.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 Group Holdings Ltd · Annual Report 2025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EXPANSION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Sequencing licences for revenue uplift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— Licences secured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67128"/>
            <a:ext cx="5394960" cy="36576"/>
          </a:xfrm>
          <a:prstGeom prst="rect">
            <a:avLst/>
          </a:prstGeom>
          <a:solidFill>
            <a:srgbClr val="E3E5E8"/>
          </a:solidFill>
          <a:ln w="12700">
            <a:solidFill>
              <a:srgbClr val="E3E5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31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77440" y="2331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banking licence — first bank established outside Europe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449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77440" y="304495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to establish a local bank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758184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77440" y="375818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In-principle approval for a payments licence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47141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77440" y="4471416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authorisation to issue prepaid payment instruments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518464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(MiCA)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77440" y="518464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crypto services across Europe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17830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— Catalysts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2167128"/>
            <a:ext cx="5394960" cy="36576"/>
          </a:xfrm>
          <a:prstGeom prst="rect">
            <a:avLst/>
          </a:prstGeom>
          <a:solidFill>
            <a:srgbClr val="E3E5E8"/>
          </a:solidFill>
          <a:ln w="12700">
            <a:solidFill>
              <a:srgbClr val="E3E5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331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2331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lifted restrictions on banking licence (March 2026)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30449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21040" y="304495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 application filed for full national bank charter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3758184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21040" y="375818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to apply for full banking licence — first in Africa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447141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21040" y="4471416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acquisition announced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518464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£10bn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21040" y="518464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Five-year global investment commitment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5806440"/>
            <a:ext cx="1124712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58978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licence appears to raise the per-customer revenue ceiling — though the impact will only become visible as new markets mature.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 Group Holdings Ltd · Annual Report 2025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WATCHPOINTS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Watchpoints for 2026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74904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474720"/>
            <a:ext cx="374904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Gross-margin compression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777240" cy="201168"/>
          </a:xfrm>
          <a:prstGeom prst="rect">
            <a:avLst/>
          </a:prstGeom>
          <a:solidFill>
            <a:srgbClr val="D89220"/>
          </a:solidFill>
          <a:ln w="12700">
            <a:solidFill>
              <a:srgbClr val="D892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28600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2587752"/>
            <a:ext cx="3657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fell 81% → 78%. Fee expense (+62%) outran revenue (+46%) — watch whether this is mix-driven or unit-cost inflation.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783080"/>
            <a:ext cx="374904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3474720"/>
            <a:ext cx="374904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Marketing-spend payback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34840" y="2286000"/>
            <a:ext cx="777240" cy="201168"/>
          </a:xfrm>
          <a:prstGeom prst="rect">
            <a:avLst/>
          </a:prstGeom>
          <a:solidFill>
            <a:srgbClr val="D89220"/>
          </a:solidFill>
          <a:ln w="12700">
            <a:solidFill>
              <a:srgbClr val="D892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228600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434840" y="2587752"/>
            <a:ext cx="3657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&amp; marketing +47% to £529m. Sustained CAC pressure would compress the PBT margin gain.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321040" y="1783080"/>
            <a:ext cx="374904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3474720"/>
            <a:ext cx="374904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6676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Rate-cycle exposure on NII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366760" y="2286000"/>
            <a:ext cx="777240" cy="201168"/>
          </a:xfrm>
          <a:prstGeom prst="rect">
            <a:avLst/>
          </a:prstGeom>
          <a:solidFill>
            <a:srgbClr val="D89220"/>
          </a:solidFill>
          <a:ln w="12700">
            <a:solidFill>
              <a:srgbClr val="D892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228600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366760" y="2587752"/>
            <a:ext cx="3657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income (21.6% of revenue) is still treasury-yield-led; a 2026 cutting cycle pressures NII until lending scales.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374904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5349240"/>
            <a:ext cx="374904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execution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4160520"/>
            <a:ext cx="777240" cy="201168"/>
          </a:xfrm>
          <a:prstGeom prst="rect">
            <a:avLst/>
          </a:prstGeom>
          <a:solidFill>
            <a:srgbClr val="C2362F"/>
          </a:solidFill>
          <a:ln w="12700">
            <a:solidFill>
              <a:srgbClr val="C236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1605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2920" y="4462272"/>
            <a:ext cx="3657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OCC application and South Africa licence are multi-year, binary unlocks. Delay defers material revenue.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89120" y="3657600"/>
            <a:ext cx="374904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120" y="5349240"/>
            <a:ext cx="374904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Industry-wide financial crime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4160520"/>
            <a:ext cx="777240" cy="201168"/>
          </a:xfrm>
          <a:prstGeom prst="rect">
            <a:avLst/>
          </a:prstGeom>
          <a:solidFill>
            <a:srgbClr val="D89220"/>
          </a:solidFill>
          <a:ln w="12700">
            <a:solidFill>
              <a:srgbClr val="D892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34840" y="41605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434840" y="4462272"/>
            <a:ext cx="3657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Revolut's risk investment is leading-edge but exogenous fraud and APP-fraud regulation evolve faster than any single firm.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321040" y="3657600"/>
            <a:ext cx="374904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21040" y="5349240"/>
            <a:ext cx="3749040" cy="0"/>
          </a:xfrm>
          <a:prstGeom prst="line">
            <a:avLst/>
          </a:prstGeom>
          <a:noFill/>
          <a:ln w="6350">
            <a:solidFill>
              <a:srgbClr val="E3E5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6676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Talent + cost inflation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366760" y="4160520"/>
            <a:ext cx="777240" cy="20116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66760" y="41605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366760" y="4462272"/>
            <a:ext cx="3657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Share-based payments £193m and staff costs +16% — managing the wage bill as scale continues is non-trivial.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 Group Holdings Ltd · Annual Report 2025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D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priorities for 2026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0"/>
          </a:xfrm>
          <a:prstGeom prst="line">
            <a:avLst/>
          </a:prstGeom>
          <a:noFill/>
          <a:ln w="6350">
            <a:solidFill>
              <a:srgbClr val="2A2D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8DB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80160" y="1636776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Densify primary-bank conversion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89320" y="1645920"/>
            <a:ext cx="5623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Re-weight 2026 product spend toward primary-bank triggers: salary inflow, local IBANs, FSCS-protected accounts, joint and household products. Track 'primary-bank conversion rate' as a board KPI.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11247120" cy="0"/>
          </a:xfrm>
          <a:prstGeom prst="line">
            <a:avLst/>
          </a:prstGeom>
          <a:noFill/>
          <a:ln w="6350">
            <a:solidFill>
              <a:srgbClr val="2A2D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14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8DB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280160" y="2551176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lending the headline product of 2026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89320" y="2560320"/>
            <a:ext cx="5623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UK full licence as the lead market; sequence Mexico, Colombia and the US charter next. Target LDR of 15% by FY27.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11247120" cy="0"/>
          </a:xfrm>
          <a:prstGeom prst="line">
            <a:avLst/>
          </a:prstGeom>
          <a:noFill/>
          <a:ln w="6350">
            <a:solidFill>
              <a:srgbClr val="2A2D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29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8DB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280160" y="3465576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Productize the AI operating model externally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89320" y="3474720"/>
            <a:ext cx="5623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fraud, AML and risk-workflow stack as a B2B offering or white-label for Revolut Business mid-market and enterprise customers.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251960"/>
            <a:ext cx="11247120" cy="0"/>
          </a:xfrm>
          <a:prstGeom prst="line">
            <a:avLst/>
          </a:prstGeom>
          <a:noFill/>
          <a:ln w="6350">
            <a:solidFill>
              <a:srgbClr val="2A2D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343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8DB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280160" y="4379976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subscriptions higher, gate on primary-bank behaviour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89320" y="4389120"/>
            <a:ext cx="5623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one tier above Ultra for HNW primary-bank customers, gated on balance and activity. Use RevPoints as the cross-sell engine for wealth and lending.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5166360"/>
            <a:ext cx="11247120" cy="0"/>
          </a:xfrm>
          <a:prstGeom prst="line">
            <a:avLst/>
          </a:prstGeom>
          <a:noFill/>
          <a:ln w="6350">
            <a:solidFill>
              <a:srgbClr val="2A2D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257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8DB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280160" y="5294376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Sequence regulatory expansion around revenue unlocks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89320" y="5303520"/>
            <a:ext cx="5623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each licence by (existing customers in market) × (revenue-uplift-per-customer the licence unlocks). Disclose progress quarterly.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6080760"/>
            <a:ext cx="11247120" cy="0"/>
          </a:xfrm>
          <a:prstGeom prst="line">
            <a:avLst/>
          </a:prstGeom>
          <a:noFill/>
          <a:ln w="6350">
            <a:solidFill>
              <a:srgbClr val="2A2D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Revolut Group Holdings Ltd, Annual Report 2025  ·  Calculated and interpretive elements flagged in underlying analysis.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Revolut 2025 Strategic Analysis</dc:title>
  <dc:subject>PptxGenJS Presentation</dc:subject>
  <dc:creator>Strategy Analysis</dc:creator>
  <cp:lastModifiedBy>Strategy Analysis</cp:lastModifiedBy>
  <cp:revision>1</cp:revision>
  <dcterms:created xsi:type="dcterms:W3CDTF">2026-05-20T02:16:42Z</dcterms:created>
  <dcterms:modified xsi:type="dcterms:W3CDTF">2026-05-20T02:16:42Z</dcterms:modified>
</cp:coreProperties>
</file>